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097280"/>
            <a:ext cx="5669280" cy="4937760"/>
          </a:xfrm>
          <a:prstGeom prst="roundRect">
            <a:avLst>
              <a:gd name="adj" fmla="val 4630"/>
            </a:avLst>
          </a:prstGeom>
          <a:solidFill>
            <a:srgbClr val="D6CDB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834640"/>
            <a:ext cx="4206240" cy="5303520"/>
          </a:xfrm>
          <a:prstGeom prst="roundRect">
            <a:avLst>
              <a:gd name="adj" fmla="val 5435"/>
            </a:avLst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146304" cy="9692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53035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HARRIMAN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  ·  CP TECHNOLOGY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+ dbt Data Pipeline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  ·  Developer infrastructure  ·  Quality guardrails &amp; auto-deployment  ·  DevOps  ·  Observability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463600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759452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3312" y="4690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8096" y="51846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execution environment on OpenShift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0" y="44348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94176" y="463600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4759452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79392" y="4690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94176" y="51846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infrastructure on ODH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0" y="44348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20256" y="463600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75945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05472" y="4690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620256" y="51846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three Jenkins pipelines + gated auto-deployment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326880" y="44348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546336" y="463600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4759452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31552" y="4690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546336" y="51846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Splunk + CP 360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building blocks, one governed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603504" cy="60350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618" y="208318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72491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 execution environment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Airflow instance per team on the OpenShift QC cluster — no cross-team contention, controlled blast radius.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64592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1920240"/>
            <a:ext cx="603504" cy="60350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698" y="208318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3984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30752" y="272491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infrastructure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30752" y="338328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VS Code workbenches on ODH; developers build and test, then push to GitHub — the single source of truth.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64592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56832" y="1920240"/>
            <a:ext cx="603504" cy="60350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778" y="2083186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70064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56832" y="272491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automation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656832" y="338328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Jenkins pipelines manage the platform: developer image, runtime image, and quality guardrails — plus gated auto-deployment.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326880" y="164592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82912" y="1920240"/>
            <a:ext cx="603504" cy="60350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858" y="2083186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296144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582912" y="272491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582912" y="338328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and dbt logs stream to Splunk; stage-level run metadata lands in the CP 360 dashboard for audit and impact analysis.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11082528" cy="960120"/>
          </a:xfrm>
          <a:prstGeom prst="roundRect">
            <a:avLst>
              <a:gd name="adj" fmla="val 7619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5838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50749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thesis: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environment is built from pipeline-certified images, every change passes automated gates with human approval on evidence, and every run is fully observable.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01 · QC EXECUTION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Airflow instance per team on OpenShift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orchestration creates cross-team contention and an uncontrolled blast radius when one team's workload misbehaves.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A41E22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 — each team runs its own Airflow instance as dedicated pods; execution stays inside the instance boundary.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11091672" cy="2487168"/>
          </a:xfrm>
          <a:prstGeom prst="roundRect">
            <a:avLst>
              <a:gd name="adj" fmla="val 2941"/>
            </a:avLst>
          </a:prstGeom>
          <a:solidFill>
            <a:srgbClr val="EDE9E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408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· QC CLUSTER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70048"/>
            <a:ext cx="340156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0720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62456" y="27614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51560" y="3127248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" y="312724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applies dependencies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1051560" y="3483864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348386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1051560" y="3840480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1161288" y="384048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code automatically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1051560" y="4197096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20" name="Text 17"/>
          <p:cNvSpPr/>
          <p:nvPr/>
        </p:nvSpPr>
        <p:spPr>
          <a:xfrm>
            <a:off x="1161288" y="41970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processes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parallel task slots inside the instance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562856" y="2670048"/>
            <a:ext cx="340156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80720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56632" y="27614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B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745736" y="3127248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25" name="Text 21"/>
          <p:cNvSpPr/>
          <p:nvPr/>
        </p:nvSpPr>
        <p:spPr>
          <a:xfrm>
            <a:off x="4855464" y="312724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applies dependencies</a:t>
            </a:r>
            <a:endParaRPr lang="en-US" sz="920" dirty="0"/>
          </a:p>
        </p:txBody>
      </p:sp>
      <p:sp>
        <p:nvSpPr>
          <p:cNvPr id="26" name="Shape 22"/>
          <p:cNvSpPr/>
          <p:nvPr/>
        </p:nvSpPr>
        <p:spPr>
          <a:xfrm>
            <a:off x="4745736" y="3483864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27" name="Text 23"/>
          <p:cNvSpPr/>
          <p:nvPr/>
        </p:nvSpPr>
        <p:spPr>
          <a:xfrm>
            <a:off x="4855464" y="348386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20" dirty="0"/>
          </a:p>
        </p:txBody>
      </p:sp>
      <p:sp>
        <p:nvSpPr>
          <p:cNvPr id="28" name="Shape 24"/>
          <p:cNvSpPr/>
          <p:nvPr/>
        </p:nvSpPr>
        <p:spPr>
          <a:xfrm>
            <a:off x="4745736" y="3840480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29" name="Text 25"/>
          <p:cNvSpPr/>
          <p:nvPr/>
        </p:nvSpPr>
        <p:spPr>
          <a:xfrm>
            <a:off x="4855464" y="384048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code automatically</a:t>
            </a:r>
            <a:endParaRPr lang="en-US" sz="920" dirty="0"/>
          </a:p>
        </p:txBody>
      </p:sp>
      <p:sp>
        <p:nvSpPr>
          <p:cNvPr id="30" name="Shape 26"/>
          <p:cNvSpPr/>
          <p:nvPr/>
        </p:nvSpPr>
        <p:spPr>
          <a:xfrm>
            <a:off x="4745736" y="4197096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31" name="Text 27"/>
          <p:cNvSpPr/>
          <p:nvPr/>
        </p:nvSpPr>
        <p:spPr>
          <a:xfrm>
            <a:off x="4855464" y="41970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processes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parallel task slots inside the instance</a:t>
            </a:r>
            <a:endParaRPr lang="en-US" sz="920" dirty="0"/>
          </a:p>
        </p:txBody>
      </p:sp>
      <p:sp>
        <p:nvSpPr>
          <p:cNvPr id="32" name="Shape 28"/>
          <p:cNvSpPr/>
          <p:nvPr/>
        </p:nvSpPr>
        <p:spPr>
          <a:xfrm>
            <a:off x="8257032" y="2670048"/>
            <a:ext cx="340156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807208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50808" y="27614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8439912" y="3127248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36" name="Text 31"/>
          <p:cNvSpPr/>
          <p:nvPr/>
        </p:nvSpPr>
        <p:spPr>
          <a:xfrm>
            <a:off x="8549640" y="312724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applies dependencies</a:t>
            </a:r>
            <a:endParaRPr lang="en-US" sz="920" dirty="0"/>
          </a:p>
        </p:txBody>
      </p:sp>
      <p:sp>
        <p:nvSpPr>
          <p:cNvPr id="37" name="Shape 32"/>
          <p:cNvSpPr/>
          <p:nvPr/>
        </p:nvSpPr>
        <p:spPr>
          <a:xfrm>
            <a:off x="8439912" y="3483864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38" name="Text 33"/>
          <p:cNvSpPr/>
          <p:nvPr/>
        </p:nvSpPr>
        <p:spPr>
          <a:xfrm>
            <a:off x="8549640" y="348386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20" dirty="0"/>
          </a:p>
        </p:txBody>
      </p:sp>
      <p:sp>
        <p:nvSpPr>
          <p:cNvPr id="39" name="Shape 34"/>
          <p:cNvSpPr/>
          <p:nvPr/>
        </p:nvSpPr>
        <p:spPr>
          <a:xfrm>
            <a:off x="8439912" y="3840480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40" name="Text 35"/>
          <p:cNvSpPr/>
          <p:nvPr/>
        </p:nvSpPr>
        <p:spPr>
          <a:xfrm>
            <a:off x="8549640" y="384048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code automatically</a:t>
            </a:r>
            <a:endParaRPr lang="en-US" sz="920" dirty="0"/>
          </a:p>
        </p:txBody>
      </p:sp>
      <p:sp>
        <p:nvSpPr>
          <p:cNvPr id="41" name="Shape 36"/>
          <p:cNvSpPr/>
          <p:nvPr/>
        </p:nvSpPr>
        <p:spPr>
          <a:xfrm>
            <a:off x="8439912" y="4197096"/>
            <a:ext cx="3035808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42" name="Text 37"/>
          <p:cNvSpPr/>
          <p:nvPr/>
        </p:nvSpPr>
        <p:spPr>
          <a:xfrm>
            <a:off x="8549640" y="41970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processes </a:t>
            </a:r>
            <a:pPr indent="0" marL="0">
              <a:buNone/>
            </a:pPr>
            <a:r>
              <a:rPr lang="en-US" sz="9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parallel task slots inside the instance</a:t>
            </a:r>
            <a:endParaRPr lang="en-US" sz="920" dirty="0"/>
          </a:p>
        </p:txBody>
      </p:sp>
      <p:sp>
        <p:nvSpPr>
          <p:cNvPr id="43" name="Shape 38"/>
          <p:cNvSpPr/>
          <p:nvPr/>
        </p:nvSpPr>
        <p:spPr>
          <a:xfrm>
            <a:off x="548640" y="489204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49808" y="5074920"/>
            <a:ext cx="420624" cy="42062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5188488"/>
            <a:ext cx="193487" cy="193487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298448" y="509320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749808" y="551383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fan out as parallel worker processes, bounded by the instance's concurrency settings.</a:t>
            </a:r>
            <a:endParaRPr lang="en-US" sz="960" dirty="0"/>
          </a:p>
        </p:txBody>
      </p:sp>
      <p:sp>
        <p:nvSpPr>
          <p:cNvPr id="48" name="Shape 42"/>
          <p:cNvSpPr/>
          <p:nvPr/>
        </p:nvSpPr>
        <p:spPr>
          <a:xfrm>
            <a:off x="4306824" y="489204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507992" y="5074920"/>
            <a:ext cx="420624" cy="42062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560" y="5188488"/>
            <a:ext cx="193487" cy="193487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056632" y="509320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4507992" y="551383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pools, and max_active_runs enforce order — Bronze → Silver → Gold runs strictly in sequence.</a:t>
            </a:r>
            <a:endParaRPr lang="en-US" sz="960" dirty="0"/>
          </a:p>
        </p:txBody>
      </p:sp>
      <p:sp>
        <p:nvSpPr>
          <p:cNvPr id="53" name="Shape 46"/>
          <p:cNvSpPr/>
          <p:nvPr/>
        </p:nvSpPr>
        <p:spPr>
          <a:xfrm>
            <a:off x="8065008" y="489204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8266176" y="5074920"/>
            <a:ext cx="420624" cy="420624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744" y="5188488"/>
            <a:ext cx="193487" cy="193487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8814816" y="509320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Pushdown to Oracle</a:t>
            </a:r>
            <a:endParaRPr lang="en-US" sz="1300" dirty="0"/>
          </a:p>
        </p:txBody>
      </p:sp>
      <p:sp>
        <p:nvSpPr>
          <p:cNvPr id="57" name="Text 49"/>
          <p:cNvSpPr/>
          <p:nvPr/>
        </p:nvSpPr>
        <p:spPr>
          <a:xfrm>
            <a:off x="8266176" y="5513832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compiles models to SQL and runs the work in Oracle — data never leaves the database. State lives in the metadata DB.</a:t>
            </a:r>
            <a:endParaRPr lang="en-US" sz="960" dirty="0"/>
          </a:p>
        </p:txBody>
      </p:sp>
      <p:sp>
        <p:nvSpPr>
          <p:cNvPr id="58" name="Text 5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02 · DEVELOPER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workbenches on ODH, GitHub as the source of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environment setup takes days of tickets, and inconsistent setups cause “works on my machine” failures.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A41E22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ODH workbenches provisioned from a certified image — build, test, and push to GitHub through peer-reviewed PRs.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47985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2951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ODH VS Code workbench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262432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developer gets a StatefulSet with persistent storage, booted from the certified developer image — Airflow, dbt + Oracle adapter, drivers, and pinned Nexus libraries preinstalled.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935224"/>
            <a:ext cx="0" cy="658368"/>
          </a:xfrm>
          <a:prstGeom prst="line">
            <a:avLst/>
          </a:prstGeom>
          <a:noFill/>
          <a:ln w="25400">
            <a:solidFill>
              <a:srgbClr val="D6CDB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796589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361188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test locally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25880" y="394106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and dbt models are developed and exercised inside the workbench before any code leaves it.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4251960"/>
            <a:ext cx="0" cy="658368"/>
          </a:xfrm>
          <a:prstGeom prst="line">
            <a:avLst/>
          </a:prstGeom>
          <a:noFill/>
          <a:ln w="25400">
            <a:solidFill>
              <a:srgbClr val="D6CDBF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548640" y="4965192"/>
            <a:ext cx="548640" cy="54864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13325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92861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to GitHub · peer review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25880" y="52578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and pull request into GitHub — the single source of truth. Peer review is the first control on every change.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12280" y="2286000"/>
            <a:ext cx="4828032" cy="3794760"/>
          </a:xfrm>
          <a:prstGeom prst="roundRect">
            <a:avLst>
              <a:gd name="adj" fmla="val 1928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5420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98664" y="2523744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certified developer image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3127248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70648" y="3063240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version-matched to the QC runtime</a:t>
            </a:r>
            <a:endParaRPr lang="en-US" sz="108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355701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70648" y="3493008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Oracle adapter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framework</a:t>
            </a:r>
            <a:endParaRPr lang="en-US" sz="108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3176" y="3986784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70648" y="3922776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client &amp; drivers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out of the box</a:t>
            </a:r>
            <a:endParaRPr lang="en-US" sz="108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76" y="4416552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70648" y="4352544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IDE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VS Code in the browser</a:t>
            </a:r>
            <a:endParaRPr lang="en-US" sz="108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4846320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470648" y="4782312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Python libraries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internal Nexus registry</a:t>
            </a:r>
            <a:endParaRPr lang="en-US" sz="108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3176" y="5276088"/>
            <a:ext cx="219456" cy="21945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70648" y="5212080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UBI9 base, security-scanned  —  </a:t>
            </a:r>
            <a:pPr indent="0" marL="0">
              <a:buNone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quarterly</a:t>
            </a:r>
            <a:endParaRPr lang="en-US" sz="1080" dirty="0"/>
          </a:p>
        </p:txBody>
      </p:sp>
      <p:sp>
        <p:nvSpPr>
          <p:cNvPr id="37" name="Text 25"/>
          <p:cNvSpPr/>
          <p:nvPr/>
        </p:nvSpPr>
        <p:spPr>
          <a:xfrm>
            <a:off x="7104888" y="562356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every 3 months by CP Engineering — no configuration drift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03A · QUALITY GUARDRAILS &amp; AUTO-DEPLOYMENT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gates, evidence-based approval, deployment as a merge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alone misses schema breaks, transformation defects, and performance regressions; manual deploys are unauditable.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A41E22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automated gates on every PR, team-lead approval against evidence, and git-sync auto-deployment of the approved branch only.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14016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2527584"/>
            <a:ext cx="193487" cy="1934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432304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Code quality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" y="290779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DAG integrity, unit tests, coding standards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3474720" y="2231136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75888" y="2414016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456" y="2527584"/>
            <a:ext cx="193487" cy="1934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06240" y="2432304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Schema validation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75888" y="290779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target contracts — columns, types, constraints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400800" y="2231136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01968" y="2414016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536" y="2527584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2432304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Transformation quality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601968" y="290779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tests: unique, not-null, referential integrity</a:t>
            </a:r>
            <a:endParaRPr lang="en-US" sz="960" dirty="0"/>
          </a:p>
        </p:txBody>
      </p:sp>
      <p:sp>
        <p:nvSpPr>
          <p:cNvPr id="23" name="Shape 18"/>
          <p:cNvSpPr/>
          <p:nvPr/>
        </p:nvSpPr>
        <p:spPr>
          <a:xfrm>
            <a:off x="9326880" y="2231136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28048" y="2414016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616" y="2527584"/>
            <a:ext cx="193487" cy="1934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0" y="2432304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· Performance benchmark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528048" y="290779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volume &amp; Oracle resource thresholds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548640" y="3931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→ AUTO-DEPLOYMENT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4251960"/>
            <a:ext cx="204277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4944" y="4379976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5"/>
          <p:cNvSpPr/>
          <p:nvPr/>
        </p:nvSpPr>
        <p:spPr>
          <a:xfrm>
            <a:off x="694944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97280" y="4361688"/>
            <a:ext cx="1366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13232" y="4764024"/>
            <a:ext cx="1713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per gate, coverage, benchmarks — one artifact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545690" y="45765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2810866" y="4251960"/>
            <a:ext cx="204277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2957170" y="4379976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7" name="Text 31"/>
          <p:cNvSpPr/>
          <p:nvPr/>
        </p:nvSpPr>
        <p:spPr>
          <a:xfrm>
            <a:off x="2957170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3359506" y="4361688"/>
            <a:ext cx="1366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approval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2975458" y="4764024"/>
            <a:ext cx="1713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against the evidence; the only path forward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807915" y="45765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5073091" y="4251960"/>
            <a:ext cx="204277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5219395" y="4379976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3" name="Text 37"/>
          <p:cNvSpPr/>
          <p:nvPr/>
        </p:nvSpPr>
        <p:spPr>
          <a:xfrm>
            <a:off x="5219395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621731" y="4361688"/>
            <a:ext cx="1366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release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237683" y="4764024"/>
            <a:ext cx="1713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merges the PR to the protected release branch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7070141" y="45765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41"/>
          <p:cNvSpPr/>
          <p:nvPr/>
        </p:nvSpPr>
        <p:spPr>
          <a:xfrm>
            <a:off x="7335317" y="4251960"/>
            <a:ext cx="204277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7481621" y="4379976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9" name="Text 43"/>
          <p:cNvSpPr/>
          <p:nvPr/>
        </p:nvSpPr>
        <p:spPr>
          <a:xfrm>
            <a:off x="7481621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7883957" y="4361688"/>
            <a:ext cx="1366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pulls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7499909" y="4764024"/>
            <a:ext cx="1713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in each QC instance syncs the approved branch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9332366" y="45765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9597542" y="4251960"/>
            <a:ext cx="2042770" cy="1051560"/>
          </a:xfrm>
          <a:prstGeom prst="roundRect">
            <a:avLst>
              <a:gd name="adj" fmla="val 6087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743846" y="437997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9743846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10146182" y="4361688"/>
            <a:ext cx="1366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QC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9762134" y="4764024"/>
            <a:ext cx="1713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picks up the change — no manual deploy step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9" name="Text 53"/>
          <p:cNvSpPr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approved branch can reach QC · rollback is a revert · full audit trail of who approved, what merged, when it went live.</a:t>
            </a:r>
            <a:endParaRPr lang="en-US" sz="1150" dirty="0"/>
          </a:p>
        </p:txBody>
      </p:sp>
      <p:sp>
        <p:nvSpPr>
          <p:cNvPr id="60" name="Text 5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03B ·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Jenkins pipelines manage the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servers and environments drift, age unpatched, and can't be reproduced or evidenced.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A41E22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code — images and environments are reproducible Jenkins outputs on a quarterly certification cadence.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468880"/>
            <a:ext cx="530352" cy="53035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" y="2612075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5786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4672" y="316382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image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" y="3648456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ODH workbench image: UBI9, Airflow, dbt, code-server, pinned libraries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Security-scanned and certified before release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quarterly by CP Engineering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4306824" y="2231136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62856" y="2468880"/>
            <a:ext cx="530352" cy="53035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51" y="2612075"/>
            <a:ext cx="243962" cy="2439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21224" y="25786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62856" y="316382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image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99432" y="3648456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QC execution image the Airflow instances run on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toolchain versions as the developer image — code behaves identically in dev, CI, and QC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Smoke-tested: Airflow, dbt, and Oracle connectivity verified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8065008" y="2231136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246888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35" y="2612075"/>
            <a:ext cx="243962" cy="2439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79408" y="25786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3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321040" y="316382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guardrails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357616" y="3648456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four gates on every pull request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validation report the team lead approves against</a:t>
            </a:r>
            <a:endParaRPr lang="en-US" sz="106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regressions before they reach QC</a:t>
            </a:r>
            <a:endParaRPr lang="en-US" sz="106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235" y="2612075"/>
            <a:ext cx="243962" cy="24396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EDE9E4"/>
          </a:solidFill>
          <a:ln/>
        </p:spPr>
      </p:sp>
      <p:sp>
        <p:nvSpPr>
          <p:cNvPr id="28" name="Text 22"/>
          <p:cNvSpPr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point: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hand-built infrastructure anywhere in the lifecycle — no drift, a quarterly patch cadence, and evidence produced at every step.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04 · OBSERVABILITY &amp;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leaves a trail — in Splunk and in CP 360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AD9D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8E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central telemetry there is no single view of what happened, at which stage, when a pipeline fails.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A41E22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stream to Splunk for health; stage-level run metadata lands in CP 360 for detail, lineage, and audit evidence.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DE9E4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468880"/>
            <a:ext cx="475488" cy="475488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2597262"/>
            <a:ext cx="218724" cy="2187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08176" y="2505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sources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3127248"/>
            <a:ext cx="2478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scheduler &amp; task logs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logs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run &amp; test logs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metrics — duration, rows, status per stage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" y="513892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by every QC instance and every dbt invocation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6576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160520" y="2231136"/>
            <a:ext cx="74797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98264" y="2414016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537460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01768" y="2432304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 — operational health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453128" y="2871216"/>
            <a:ext cx="6894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forwarders ship Airflow and dbt logs from every pod in near real time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failures, retries, and SLA misses; alerts route to the owning team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triage point for operations across all instances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4160520" y="4105656"/>
            <a:ext cx="7479792" cy="1691640"/>
          </a:xfrm>
          <a:prstGeom prst="roundRect">
            <a:avLst>
              <a:gd name="adj" fmla="val 4324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98264" y="42885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4411980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01768" y="4306824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360 dashboard — stage-level run metadata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453128" y="4745736"/>
            <a:ext cx="6894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metrics stored in the Oracle-based CP 360 metadata store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ran, when, how long, rows processed, and outcome — per stage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lineage for impact analysis; supports NYDFS audit traceability</a:t>
            </a:r>
            <a:endParaRPr lang="en-US" sz="108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4411980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598932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answers “is it healthy?”  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360 answers “what exactly did it do?” — complete stage-level visibility of every run.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in place, and what we ask of the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1869216"/>
            <a:ext cx="193487" cy="193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73936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execution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176272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Airflow instance per team; contained blast radius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06824" y="1572768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755648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560" y="186921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56632" y="1773936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images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07992" y="2176272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and runtime images built, scanned, and refreshed quarterly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65008" y="1572768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755648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744" y="1869216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14816" y="1773936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gates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66176" y="2176272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schema, transformation, and performance checks on every PR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044952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27832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3341400"/>
            <a:ext cx="193487" cy="1934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3246120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approval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364845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signs off against the generated validation report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06824" y="3044952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227832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560" y="3341400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56632" y="3246120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deployment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07992" y="364845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approved release branch can reach QC, via git-sync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65008" y="3044952"/>
            <a:ext cx="35844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3227832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744" y="3341400"/>
            <a:ext cx="193487" cy="1934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4816" y="3246120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observability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66176" y="364845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health monitoring + CP 360 stage-level audit trail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66344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A41E22"/>
          </a:solidFill>
          <a:ln/>
          <a:effectLst>
            <a:outerShdw sx="100000" sy="100000" kx="0" ky="0" algn="bl" rotWithShape="0" blurRad="88900" dist="25400" dir="5400000">
              <a:srgbClr val="2B2B2B">
                <a:alpha val="14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919472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63040" y="48828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Requested of the ARB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914400" y="53218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Endorse the platform architecture as presented  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Approve extending the same pattern to the production Airflow environment  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Ratify the quarterly image certification cadence as the platform patching standard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  ·  Architecture Review Board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2026-07-20T14:01:33Z</dcterms:created>
  <dcterms:modified xsi:type="dcterms:W3CDTF">2026-07-20T14:01:33Z</dcterms:modified>
</cp:coreProperties>
</file>